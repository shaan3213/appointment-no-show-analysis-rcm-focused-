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1C5AB-8B79-A91F-A9D2-EDD97CA51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18694-9A90-9E18-8511-A1884FF63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C02D0-5A22-1627-543B-B2354916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BEB38-6D0F-C5D8-70F1-6109C08E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D4F88-AFB3-DC67-D9E2-F91A82A9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572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17F1-53F4-045C-99A1-F74D8E55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EC58-F991-3C0A-10D3-BBD34BF83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46F24-5746-641F-A3A6-E4C288C6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F7660-7E51-65AB-F665-17A6624C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96B9E-34EB-1C6D-BEEF-9DBC41BA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4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D32C-38BB-EA26-6F86-DD66E2FA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093EE-3DAE-6109-0C02-5C81D1EB4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3F63A-16E2-C19A-168D-64E0FBA5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88BF4-5DF6-B83A-EB27-1FFCC50A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0B1E7-E3C1-892C-F68A-649AA9F4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5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308A-ED02-25DC-77C7-4AE02A34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6BE0-9A92-4AC6-0669-AFC2E4D25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D5A23-DCFC-3514-4888-180EEC500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6391B-2E5D-886F-2369-1B2D3027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D86BF-8718-4E95-EB40-3B2952B5A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EEA4F-E2DC-98C3-800B-20E05AFA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9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F4E4-6AF2-0023-BC9B-7E90599C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A1058-1F48-2067-A017-5FE9F8451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0646A-BBD6-6EE7-FB9A-EED9FF9A0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350E7-175C-E163-502B-5184EB9A2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E4BA1-DA90-E080-C1AE-82B263BFB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3C6A1-3521-8CA8-8A59-5B75E328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C8E48-124C-EC63-86BF-77C4EC248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0D0FAD-730D-B404-8F82-DB646835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62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EDDE-7B4F-9388-6BB3-E8A50FF4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3E8FA-261B-BCCF-177B-534458A4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27899-BB65-B603-3EBA-7DD22BC4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4DAC3-2C90-FA9F-1846-4871C0B6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74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5D4EA-2A05-2483-AB84-23A51041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A5652-D4A4-056B-F84C-15167B66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E704C-A063-FF67-E487-E6D262F3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21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3076-74F6-55D9-3ABD-8EBFC258D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78C9-93A3-B651-67E2-A2A78F3C2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D5548-0B03-12F6-FD1E-D08238AB6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E6C9C-5641-8F74-F61C-1531F1C4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029CB-7A48-D48F-553D-BBB9313F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73DDA-C2D2-B7BB-D2F5-21C5C311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52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FF5B-157E-1EB2-74B0-7DA83A8C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8D6B6-6B7C-0342-4861-0DA55F99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A5EDB-D7CE-6FB8-87F4-29C478839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6C64A-91E9-AE8B-E09A-14D51345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68D59-707B-D7D7-247F-4B532228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42302-8800-65CD-F4DF-EE01AC4E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8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9008-EE86-E428-5302-9DD3BDDA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DA55A-5B9D-4DEF-5928-B60B0C60D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9175B-D576-8C0E-5FA2-251E1434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832A5-3200-59A3-DA40-C1136013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B880-FC41-1F5C-2F78-283E9CCF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9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172D2-D5D8-06D3-E0F9-884434904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6A147-4E7B-6269-8BDF-420125F51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8B1C2-E786-3461-5420-345C9642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1D6C5-3372-6230-9372-50E3E589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E3417-64CB-93AE-DDD0-0A29E64A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54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90C45-7F9A-2C8F-DB71-C8B573A2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9E70B-5F26-61E2-5724-11DEF7132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7DE04-A7B4-E7FD-C301-D18757E80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5465D-B834-40A3-9A2F-04F470BFEA8A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5CEAA-7330-23E2-7601-7E435ECEB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A1DD-7036-F60A-0351-0BD6C7EC7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7E81-1572-4E3F-97F1-8CB95B36A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76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1754-6629-DEB0-0240-78559AAD8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3389"/>
            <a:ext cx="10058400" cy="287657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Appointment No-Show Analysis in US Healthcare (RCM Focus)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FF3C2-A45F-CEFF-2F97-371C19A33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716" y="3972232"/>
            <a:ext cx="9183329" cy="1305231"/>
          </a:xfrm>
        </p:spPr>
        <p:txBody>
          <a:bodyPr>
            <a:normAutofit/>
          </a:bodyPr>
          <a:lstStyle/>
          <a:p>
            <a:r>
              <a:rPr lang="en-US" sz="2800" dirty="0"/>
              <a:t>(End-to-End Data Analysis using Excel, SQL Server &amp; Power BI)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CC68F-0DEA-B44E-1240-3EB2CDA1D736}"/>
              </a:ext>
            </a:extLst>
          </p:cNvPr>
          <p:cNvSpPr txBox="1"/>
          <p:nvPr/>
        </p:nvSpPr>
        <p:spPr>
          <a:xfrm>
            <a:off x="727588" y="5024282"/>
            <a:ext cx="1097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Mohd Shaan Saifi | Healthcare Analytics Case Study</a:t>
            </a:r>
          </a:p>
        </p:txBody>
      </p:sp>
    </p:spTree>
    <p:extLst>
      <p:ext uri="{BB962C8B-B14F-4D97-AF65-F5344CB8AC3E}">
        <p14:creationId xmlns:p14="http://schemas.microsoft.com/office/powerpoint/2010/main" val="2092348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CFED-03C3-CA2C-9209-40502B96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 &amp; Objective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BA1F4-9ED2-260C-BB52-25640FF42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853517" cy="2126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Business Problem</a:t>
            </a:r>
            <a:r>
              <a:rPr lang="en-US" sz="1800" b="1" dirty="0"/>
              <a:t>:</a:t>
            </a:r>
          </a:p>
          <a:p>
            <a:r>
              <a:rPr lang="en-IN" sz="1600" dirty="0"/>
              <a:t>Appointment No-Shows lead to revenue leakage in healthcare</a:t>
            </a:r>
          </a:p>
          <a:p>
            <a:r>
              <a:rPr lang="en-IN" sz="1600" dirty="0"/>
              <a:t>Missed appointments reduce provider utilization</a:t>
            </a:r>
          </a:p>
          <a:p>
            <a:r>
              <a:rPr lang="en-IN" sz="1600" dirty="0"/>
              <a:t>Operational inefficiencies impact Revenue Cycle Management (RCM)</a:t>
            </a: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8BFE38-3BA0-26C6-AC07-57807600288B}"/>
              </a:ext>
            </a:extLst>
          </p:cNvPr>
          <p:cNvSpPr txBox="1"/>
          <p:nvPr/>
        </p:nvSpPr>
        <p:spPr>
          <a:xfrm>
            <a:off x="838200" y="3873910"/>
            <a:ext cx="6781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Objective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key factors driving no-shows.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patient and operational drivers.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Provider actionable recommendations to reduce no-show rates.</a:t>
            </a:r>
          </a:p>
        </p:txBody>
      </p:sp>
    </p:spTree>
    <p:extLst>
      <p:ext uri="{BB962C8B-B14F-4D97-AF65-F5344CB8AC3E}">
        <p14:creationId xmlns:p14="http://schemas.microsoft.com/office/powerpoint/2010/main" val="379388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A902D-5D32-A1C6-9A75-D6F588BF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UNDERSTANDING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C25D0-8FF3-E8CC-EEC3-B9FAF731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4677697" cy="181588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 dirty="0"/>
              <a:t>Dataset Overview</a:t>
            </a:r>
          </a:p>
          <a:p>
            <a:pPr marL="0" indent="0">
              <a:buNone/>
            </a:pPr>
            <a:endParaRPr lang="en-US" sz="3300" b="1" dirty="0"/>
          </a:p>
          <a:p>
            <a:r>
              <a:rPr lang="en-US" dirty="0"/>
              <a:t>Healthcare appointment dataset (16K records)</a:t>
            </a:r>
          </a:p>
          <a:p>
            <a:r>
              <a:rPr lang="en-US" dirty="0"/>
              <a:t>Each row represents one scheduled appointment</a:t>
            </a:r>
          </a:p>
          <a:p>
            <a:r>
              <a:rPr lang="en-US" dirty="0"/>
              <a:t>Data includes patient, scheduling, and reminder attributes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F6699-F7EF-4FE9-AEE6-C46FC7756AD9}"/>
              </a:ext>
            </a:extLst>
          </p:cNvPr>
          <p:cNvSpPr txBox="1"/>
          <p:nvPr/>
        </p:nvSpPr>
        <p:spPr>
          <a:xfrm>
            <a:off x="3647767" y="3854244"/>
            <a:ext cx="47981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Fields Used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Appointment &amp; scheduled 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Waiting time (days between scheduling and appointment)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Patient demographics (age, gender)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SMS reminder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Appointment outcome (showed-up / no-show)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D4254-8641-9FCE-5B03-D6669033097B}"/>
              </a:ext>
            </a:extLst>
          </p:cNvPr>
          <p:cNvSpPr txBox="1"/>
          <p:nvPr/>
        </p:nvSpPr>
        <p:spPr>
          <a:xfrm>
            <a:off x="6174658" y="1690689"/>
            <a:ext cx="517914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Assumptions &amp; Limitations</a:t>
            </a:r>
          </a:p>
          <a:p>
            <a:endParaRPr lang="en-US" sz="15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Dataset primarily contains weekday appointments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rescheduling or cancellation history available</a:t>
            </a:r>
          </a:p>
          <a:p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62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D0D4-462D-3DB9-6706-3BF89831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ANALYTICAL APPROACH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CCEB0E-112E-3ACD-EB6B-B583EA7ECE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64"/>
            <a:ext cx="839429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/>
              <a:t>Analytical Approach :- </a:t>
            </a:r>
            <a:endParaRPr lang="en-IN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Data cleaning and date validation in Excel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Waiting time calculation and logic validation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Exploratory analysis using pivot tables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Query-based validation and aggregation in SQL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 Final Modeling and visualization in Power BI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b="1" dirty="0"/>
              <a:t>Tools Used :- </a:t>
            </a:r>
            <a:endParaRPr lang="en-IN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800" dirty="0"/>
              <a:t>Microsoft Excel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800" dirty="0"/>
              <a:t>SQL Server (SSMS)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800" dirty="0"/>
              <a:t>Power BI</a:t>
            </a: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138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7DB0-EC58-656B-ECC4-CAFD1DDF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0"/>
            <a:ext cx="11039168" cy="894735"/>
          </a:xfrm>
        </p:spPr>
        <p:txBody>
          <a:bodyPr>
            <a:normAutofit/>
          </a:bodyPr>
          <a:lstStyle/>
          <a:p>
            <a:r>
              <a:rPr lang="en-IN" dirty="0"/>
              <a:t>KEY INSIGHTS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990E373-B54A-ACFA-29B0-88E2E03BA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986909"/>
              </p:ext>
            </p:extLst>
          </p:nvPr>
        </p:nvGraphicFramePr>
        <p:xfrm>
          <a:off x="7480010" y="301215"/>
          <a:ext cx="3567627" cy="786384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4294922895"/>
                    </a:ext>
                  </a:extLst>
                </a:gridCol>
                <a:gridCol w="3359347">
                  <a:extLst>
                    <a:ext uri="{9D8B030D-6E8A-4147-A177-3AD203B41FA5}">
                      <a16:colId xmlns:a16="http://schemas.microsoft.com/office/drawing/2014/main" val="2923254669"/>
                    </a:ext>
                  </a:extLst>
                </a:gridCol>
              </a:tblGrid>
              <a:tr h="55980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• Overall no-show rate is 20%, indicating significant revenue leakage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• No-show probability increases sharply as waiting time increases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• </a:t>
                      </a:r>
                      <a:r>
                        <a:rPr lang="en-US" b="0" dirty="0"/>
                        <a:t>Appointments scheduled 8+ days in advance represent the highest revenue risk segment and should be prioritized for intervention.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• Younger age groups consistently demonstrate higher no-show behavior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• Overall no-show rate is ~20%, impacting ~1 in 5 appointments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482691"/>
                  </a:ext>
                </a:extLst>
              </a:tr>
              <a:tr h="319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71084"/>
                  </a:ext>
                </a:extLst>
              </a:tr>
              <a:tr h="319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299048"/>
                  </a:ext>
                </a:extLst>
              </a:tr>
              <a:tr h="319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722367"/>
                  </a:ext>
                </a:extLst>
              </a:tr>
              <a:tr h="319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09688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89C22C4-1B6E-4F29-144F-B5D9427C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70" y="1209368"/>
            <a:ext cx="6782724" cy="528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A665-B584-D33C-9DFE-971C0E1D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87"/>
            <a:ext cx="10515600" cy="875071"/>
          </a:xfrm>
        </p:spPr>
        <p:txBody>
          <a:bodyPr>
            <a:normAutofit/>
          </a:bodyPr>
          <a:lstStyle/>
          <a:p>
            <a:r>
              <a:rPr lang="en-US" sz="4000" b="1" dirty="0"/>
              <a:t>Operational Drivers of Appointment No-Shows</a:t>
            </a:r>
            <a:endParaRPr lang="en-IN" sz="4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F99403-D782-17BC-17C8-F17BD55E0F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4200432"/>
            <a:ext cx="9878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b="1" dirty="0"/>
              <a:t>                                                              Key Operational Insights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B9C82-A758-370C-519A-E5387C04D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6423"/>
            <a:ext cx="3673981" cy="2841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919AFE-3F70-FC9C-AAA3-760FBB09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234" y="1206423"/>
            <a:ext cx="3772426" cy="2772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37B05A-E9B9-6CF4-07E4-C9ED336C46D1}"/>
              </a:ext>
            </a:extLst>
          </p:cNvPr>
          <p:cNvSpPr txBox="1"/>
          <p:nvPr/>
        </p:nvSpPr>
        <p:spPr>
          <a:xfrm>
            <a:off x="619432" y="4722561"/>
            <a:ext cx="102747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Appointments that received SMS reminders show higher no-show rates, indicating reminders are targeted toward higher-risk patients rather than being ineffective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No-show rates vary moderately by appointment day, suggesting uneven operational or patient behavior patterns across weekdays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Weekday-only scheduling limits insight into weekend behavior, highlighting a data coverage limitation rather than an operational issue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72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904E1-EA46-771F-624A-1BD57ED9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Actionable Recommendations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E62F2-1B55-D321-D01D-7C753803C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3959941" cy="230392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Key Problems Identified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High no-show rates for appointments scheduled 8+ days in advance</a:t>
            </a:r>
          </a:p>
          <a:p>
            <a:r>
              <a:rPr lang="en-US" dirty="0"/>
              <a:t>Younger age groups show consistently higher no-show behavior</a:t>
            </a:r>
          </a:p>
          <a:p>
            <a:r>
              <a:rPr lang="en-US" dirty="0"/>
              <a:t>SMS reminders are primarily sent to high-risk patients, not broadly optimized</a:t>
            </a:r>
          </a:p>
          <a:p>
            <a:r>
              <a:rPr lang="en-US" dirty="0"/>
              <a:t>Moderate weekday variation suggests uneven operational load and engagement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875FF-9885-380D-8B8F-195717A1F3D3}"/>
              </a:ext>
            </a:extLst>
          </p:cNvPr>
          <p:cNvSpPr txBox="1"/>
          <p:nvPr/>
        </p:nvSpPr>
        <p:spPr>
          <a:xfrm>
            <a:off x="6381133" y="1690688"/>
            <a:ext cx="3959941" cy="2479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Recommended Actions:-</a:t>
            </a:r>
          </a:p>
          <a:p>
            <a:endParaRPr lang="en-US" dirty="0"/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Introduce shorter scheduling windows or controlled overbooking for long-wait appointments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Apply multi-touch reminders (SMS + call) for high-risk age groups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Optimize SMS reminder timing closer to appointment date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Allocate additional reminder or staffing efforts on higher-risk weekdays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5470C-76F6-2273-5F0F-367C375B9C5D}"/>
              </a:ext>
            </a:extLst>
          </p:cNvPr>
          <p:cNvSpPr txBox="1"/>
          <p:nvPr/>
        </p:nvSpPr>
        <p:spPr>
          <a:xfrm>
            <a:off x="3018503" y="4483510"/>
            <a:ext cx="517176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Expected Business Impact:- </a:t>
            </a:r>
          </a:p>
          <a:p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/>
              <a:t>Reduction in no-show rates through improved patient engagement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/>
              <a:t>Improved provider utilization and appointment slot efficiency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/>
              <a:t>Lower revenue leakage caused by missed appointments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dirty="0"/>
              <a:t>Better patient experience through proactive communication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12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8E21-2834-7C25-F6A3-FB733269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Next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210B-13A5-1C36-409C-804651B39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30245"/>
            <a:ext cx="3733801" cy="19762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b="1" dirty="0"/>
              <a:t>Conclusion</a:t>
            </a:r>
            <a:r>
              <a:rPr lang="en-US" sz="2900" b="1" dirty="0"/>
              <a:t> :-</a:t>
            </a:r>
            <a:br>
              <a:rPr lang="en-US" sz="2900" b="1" dirty="0"/>
            </a:br>
            <a:endParaRPr lang="en-US" sz="3200" b="1" dirty="0"/>
          </a:p>
          <a:p>
            <a:r>
              <a:rPr lang="en-US" sz="1800" dirty="0"/>
              <a:t>Appointment no-shows represent a significant revenue leakage risk in US healthcare</a:t>
            </a:r>
          </a:p>
          <a:p>
            <a:r>
              <a:rPr lang="en-US" sz="1800" dirty="0"/>
              <a:t>Longer waiting times and specific patient segments are the primary drivers of no-shows</a:t>
            </a:r>
          </a:p>
          <a:p>
            <a:r>
              <a:rPr lang="en-US" sz="1800" dirty="0"/>
              <a:t>Data-driven operational interventions can reduce no-shows without significant additional cost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6C40D-B606-A85A-0EE1-CB311A96D5FE}"/>
              </a:ext>
            </a:extLst>
          </p:cNvPr>
          <p:cNvSpPr txBox="1"/>
          <p:nvPr/>
        </p:nvSpPr>
        <p:spPr>
          <a:xfrm>
            <a:off x="5820698" y="2330246"/>
            <a:ext cx="3834580" cy="2099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1700" b="1" dirty="0"/>
              <a:t>   Next Steps :-</a:t>
            </a:r>
          </a:p>
          <a:p>
            <a:pPr>
              <a:lnSpc>
                <a:spcPct val="70000"/>
              </a:lnSpc>
              <a:spcBef>
                <a:spcPts val="1000"/>
              </a:spcBef>
            </a:pPr>
            <a:endParaRPr lang="en-US" sz="1500" b="1" dirty="0"/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Analyze rescheduling and cancellation patterns if data becomes available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Incorporate appointment type, provider specialty, and visit time for deeper insights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Measure post-intervention impact to validate effectiveness of reminder strategies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016E1-AE68-579E-BCA7-A62CE7A07C39}"/>
              </a:ext>
            </a:extLst>
          </p:cNvPr>
          <p:cNvSpPr txBox="1"/>
          <p:nvPr/>
        </p:nvSpPr>
        <p:spPr>
          <a:xfrm>
            <a:off x="924232" y="5093110"/>
            <a:ext cx="9901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This analysis demonstrates an end-to-end, business-focused approach to solving real-world revenue cycle challenges using data.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7017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564</Words>
  <Application>Microsoft Office PowerPoint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Office Theme</vt:lpstr>
      <vt:lpstr>Appointment No-Show Analysis in US Healthcare (RCM Focus)</vt:lpstr>
      <vt:lpstr>Business Problem &amp; Objective</vt:lpstr>
      <vt:lpstr>DATA UNDERSTANDING &amp; SCOPE</vt:lpstr>
      <vt:lpstr>TOOLS &amp; ANALYTICAL APPROACH</vt:lpstr>
      <vt:lpstr>KEY INSIGHTS </vt:lpstr>
      <vt:lpstr>Operational Drivers of Appointment No-Shows</vt:lpstr>
      <vt:lpstr>Actionable Recommendations &amp; Business Impact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Shaan Saifi</dc:creator>
  <cp:lastModifiedBy>Shaan Saifi</cp:lastModifiedBy>
  <cp:revision>3</cp:revision>
  <dcterms:created xsi:type="dcterms:W3CDTF">2026-02-13T15:20:48Z</dcterms:created>
  <dcterms:modified xsi:type="dcterms:W3CDTF">2026-02-15T20:25:49Z</dcterms:modified>
</cp:coreProperties>
</file>